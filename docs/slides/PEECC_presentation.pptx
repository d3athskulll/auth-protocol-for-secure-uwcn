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we implemented the PEECC cryptosystem of the base paper in C, visualised it, tested it, found a weakness and evaluated an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UWC-N protocol chains five entities; every message is encrypted with the receiver's public key using PEECC. We study that primitive.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procedures. The pentatope number S and Euler's polynomial give the key K from the generator's x-coordinate.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C file on GMP. Layers from field arithmetic up to the PEECC functions. 13 self-tests pass, including the published 2B value of secp256r1.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are from one run of peecc.exe; an independent Python implementation reproduced S, K, Pub, C1, C2 and the decryption.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GUI with five tabs. The math walkthrough shows every number of the computation node by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depends only on B, which everybody knows, so anyone can subtract K*Pub. Shown numerically and in the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replaces K in the same two formulas. Bob decrypts exactly as before because d*(r*B) = r*Pub; r is never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benchmark in the GUI, 5 random messages and keys per scheme. Encryption times in C are from the earlier peecc.c measurement; 1.7 ms is an estimate of two 256-bit multiplications.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Metrics: operation time, scalar multiplications and point operations, key and ciphertext sizes, uniqueness and eavesdropper success. Sizes and decryption cost are identical in both schemes.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PEECC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CE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Implementation, Visualisation and Improvement</a:t>
            </a:r>
            <a:endParaRPr lang="en-US" sz="2600" dirty="0"/>
          </a:p>
        </p:txBody>
      </p:sp>
      <p:sp>
        <p:nvSpPr>
          <p:cNvPr id="4" name="description"/>
          <p:cNvSpPr txBox="1"/>
          <p:nvPr/>
        </p:nvSpPr>
        <p:spPr>
          <a:xfrm>
            <a:off x="640080" y="2651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Pentatope-based Elliptic Curve Cryptography as the encryption core of an underwater-communication authentication protocol</a:t>
            </a:r>
            <a:endParaRPr lang="en-US" sz="1600" dirty="0"/>
          </a:p>
        </p:txBody>
      </p:sp>
      <p:sp>
        <p:nvSpPr>
          <p:cNvPr id="5" name="author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Prasun Baranwal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scope</a:t>
            </a:r>
            <a:endParaRPr lang="en-US" sz="2800" dirty="0"/>
          </a:p>
        </p:txBody>
      </p:sp>
      <p:sp>
        <p:nvSpPr>
          <p:cNvPr id="4" name="entity UWS"/>
          <p:cNvSpPr/>
          <p:nvPr/>
        </p:nvSpPr>
        <p:spPr>
          <a:xfrm>
            <a:off x="457200" y="13258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5" name="entity UWS text"/>
          <p:cNvSpPr txBox="1"/>
          <p:nvPr/>
        </p:nvSpPr>
        <p:spPr>
          <a:xfrm>
            <a:off x="457200" y="1325880"/>
            <a:ext cx="1051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UWS</a:t>
            </a:r>
            <a:endParaRPr lang="en-US" sz="1400" dirty="0"/>
          </a:p>
        </p:txBody>
      </p:sp>
      <p:sp>
        <p:nvSpPr>
          <p:cNvPr id="6" name="entity SUB"/>
          <p:cNvSpPr/>
          <p:nvPr/>
        </p:nvSpPr>
        <p:spPr>
          <a:xfrm>
            <a:off x="2148840" y="13258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7" name="entity SUB text"/>
          <p:cNvSpPr txBox="1"/>
          <p:nvPr/>
        </p:nvSpPr>
        <p:spPr>
          <a:xfrm>
            <a:off x="2148840" y="1325880"/>
            <a:ext cx="1051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400" dirty="0"/>
          </a:p>
        </p:txBody>
      </p:sp>
      <p:sp>
        <p:nvSpPr>
          <p:cNvPr id="8" name="entity B (buoy)"/>
          <p:cNvSpPr/>
          <p:nvPr/>
        </p:nvSpPr>
        <p:spPr>
          <a:xfrm>
            <a:off x="3840480" y="13258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9" name="entity B (buoy) text"/>
          <p:cNvSpPr txBox="1"/>
          <p:nvPr/>
        </p:nvSpPr>
        <p:spPr>
          <a:xfrm>
            <a:off x="3840480" y="1325880"/>
            <a:ext cx="1051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(buoy)</a:t>
            </a:r>
            <a:endParaRPr lang="en-US" sz="1400" dirty="0"/>
          </a:p>
        </p:txBody>
      </p:sp>
      <p:sp>
        <p:nvSpPr>
          <p:cNvPr id="10" name="entity SAT"/>
          <p:cNvSpPr/>
          <p:nvPr/>
        </p:nvSpPr>
        <p:spPr>
          <a:xfrm>
            <a:off x="5532120" y="13258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11" name="entity SAT text"/>
          <p:cNvSpPr txBox="1"/>
          <p:nvPr/>
        </p:nvSpPr>
        <p:spPr>
          <a:xfrm>
            <a:off x="5532120" y="1325880"/>
            <a:ext cx="1051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400" dirty="0"/>
          </a:p>
        </p:txBody>
      </p:sp>
      <p:sp>
        <p:nvSpPr>
          <p:cNvPr id="12" name="entity BS"/>
          <p:cNvSpPr/>
          <p:nvPr/>
        </p:nvSpPr>
        <p:spPr>
          <a:xfrm>
            <a:off x="7223760" y="13258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13" name="entity BS text"/>
          <p:cNvSpPr txBox="1"/>
          <p:nvPr/>
        </p:nvSpPr>
        <p:spPr>
          <a:xfrm>
            <a:off x="7223760" y="1325880"/>
            <a:ext cx="10515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1508760" y="1600200"/>
            <a:ext cx="6400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message label"/>
          <p:cNvSpPr txBox="1"/>
          <p:nvPr/>
        </p:nvSpPr>
        <p:spPr>
          <a:xfrm>
            <a:off x="150876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M1-M3</a:t>
            </a:r>
            <a:endParaRPr lang="en-US" sz="1000" dirty="0"/>
          </a:p>
        </p:txBody>
      </p:sp>
      <p:sp>
        <p:nvSpPr>
          <p:cNvPr id="16" name="arrow"/>
          <p:cNvSpPr/>
          <p:nvPr/>
        </p:nvSpPr>
        <p:spPr>
          <a:xfrm>
            <a:off x="3200400" y="1600200"/>
            <a:ext cx="6400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message label"/>
          <p:cNvSpPr txBox="1"/>
          <p:nvPr/>
        </p:nvSpPr>
        <p:spPr>
          <a:xfrm>
            <a:off x="320040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M4-M6</a:t>
            </a:r>
            <a:endParaRPr lang="en-US" sz="1000" dirty="0"/>
          </a:p>
        </p:txBody>
      </p:sp>
      <p:sp>
        <p:nvSpPr>
          <p:cNvPr id="18" name="arrow"/>
          <p:cNvSpPr/>
          <p:nvPr/>
        </p:nvSpPr>
        <p:spPr>
          <a:xfrm>
            <a:off x="4892040" y="1600200"/>
            <a:ext cx="6400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message label"/>
          <p:cNvSpPr txBox="1"/>
          <p:nvPr/>
        </p:nvSpPr>
        <p:spPr>
          <a:xfrm>
            <a:off x="489204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M7-M9</a:t>
            </a:r>
            <a:endParaRPr lang="en-US" sz="1000" dirty="0"/>
          </a:p>
        </p:txBody>
      </p:sp>
      <p:sp>
        <p:nvSpPr>
          <p:cNvPr id="20" name="arrow"/>
          <p:cNvSpPr/>
          <p:nvPr/>
        </p:nvSpPr>
        <p:spPr>
          <a:xfrm>
            <a:off x="6583680" y="1600200"/>
            <a:ext cx="6400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message label"/>
          <p:cNvSpPr txBox="1"/>
          <p:nvPr/>
        </p:nvSpPr>
        <p:spPr>
          <a:xfrm>
            <a:off x="6583680" y="1097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M10-M12</a:t>
            </a:r>
            <a:endParaRPr lang="en-US" sz="1000" dirty="0"/>
          </a:p>
        </p:txBody>
      </p:sp>
      <p:sp>
        <p:nvSpPr>
          <p:cNvPr id="22" name="primitive"/>
          <p:cNvSpPr/>
          <p:nvPr/>
        </p:nvSpPr>
        <p:spPr>
          <a:xfrm>
            <a:off x="457200" y="2148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DF0E3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3" name="primitive text"/>
          <p:cNvSpPr txBox="1"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message: E{ PU(receiver), ⟨ID ‖ Nonce ‖ Timestamp or data⟩ }  =  PEECC encryption</a:t>
            </a:r>
            <a:endParaRPr lang="en-US" sz="1400" dirty="0"/>
          </a:p>
        </p:txBody>
      </p:sp>
      <p:sp>
        <p:nvSpPr>
          <p:cNvPr id="24" name="bullets"/>
          <p:cNvSpPr txBox="1"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work: the cryptographic core (PEECC of reference [18]) on the 2-D curve secp256r1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implemented: the 5-D curve of the UWC-N paper and the protocol layer (identities, nonces, timestamps, fallback)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implement, verify, visualise, assess security and performance, and propose an improvement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PEECC algorithm (reference [18])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457200" y="118872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FCE8D5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5" name="card title"/>
          <p:cNvSpPr txBox="1"/>
          <p:nvPr/>
        </p:nvSpPr>
        <p:spPr>
          <a:xfrm>
            <a:off x="594360" y="1261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Key generation</a:t>
            </a:r>
            <a:endParaRPr lang="en-US" sz="1600" dirty="0"/>
          </a:p>
        </p:txBody>
      </p:sp>
      <p:sp>
        <p:nvSpPr>
          <p:cNvPr id="6" name="card body"/>
          <p:cNvSpPr txBox="1"/>
          <p:nvPr/>
        </p:nvSpPr>
        <p:spPr>
          <a:xfrm>
            <a:off x="594360" y="1691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∈ [1, N−1]  (random)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 = d · B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3017520" y="2331720"/>
            <a:ext cx="27432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8" name="card 1"/>
          <p:cNvSpPr/>
          <p:nvPr/>
        </p:nvSpPr>
        <p:spPr>
          <a:xfrm>
            <a:off x="3291840" y="118872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DDF0E3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" name="card title"/>
          <p:cNvSpPr txBox="1"/>
          <p:nvPr/>
        </p:nvSpPr>
        <p:spPr>
          <a:xfrm>
            <a:off x="3429000" y="1261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Encryption</a:t>
            </a:r>
            <a:endParaRPr lang="en-US" sz="1600" dirty="0"/>
          </a:p>
        </p:txBody>
      </p:sp>
      <p:sp>
        <p:nvSpPr>
          <p:cNvPr id="10" name="card body"/>
          <p:cNvSpPr txBox="1"/>
          <p:nvPr/>
        </p:nvSpPr>
        <p:spPr>
          <a:xfrm>
            <a:off x="3429000" y="1691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x(x+1)(x+2)(x+3) / 24,  x = B_x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S² + S + 41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= K · B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= P_m + K · Pub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5852160" y="2331720"/>
            <a:ext cx="27432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card 2"/>
          <p:cNvSpPr/>
          <p:nvPr/>
        </p:nvSpPr>
        <p:spPr>
          <a:xfrm>
            <a:off x="6126480" y="118872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13" name="card title"/>
          <p:cNvSpPr txBox="1"/>
          <p:nvPr/>
        </p:nvSpPr>
        <p:spPr>
          <a:xfrm>
            <a:off x="6263640" y="1261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Decryption</a:t>
            </a:r>
            <a:endParaRPr lang="en-US" sz="1600" dirty="0"/>
          </a:p>
        </p:txBody>
      </p:sp>
      <p:sp>
        <p:nvSpPr>
          <p:cNvPr id="14" name="card body"/>
          <p:cNvSpPr txBox="1"/>
          <p:nvPr/>
        </p:nvSpPr>
        <p:spPr>
          <a:xfrm>
            <a:off x="6263640" y="16916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P_m = C2 − d · C1</a:t>
            </a:r>
            <a:endParaRPr lang="en-US" sz="1400" dirty="0"/>
          </a:p>
        </p:txBody>
      </p:sp>
      <p:sp>
        <p:nvSpPr>
          <p:cNvPr id="15" name="correctness"/>
          <p:cNvSpPr/>
          <p:nvPr/>
        </p:nvSpPr>
        <p:spPr>
          <a:xfrm>
            <a:off x="457200" y="3794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1F4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16" name="correctness text"/>
          <p:cNvSpPr txBox="1"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 d · C1 = d · K · B = K · Pub,  so  C2 − d · C1 = P_m + K·Pub − K·Pub = P_m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validation</a:t>
            </a:r>
            <a:endParaRPr lang="en-US" sz="2800" dirty="0"/>
          </a:p>
        </p:txBody>
      </p:sp>
      <p:sp>
        <p:nvSpPr>
          <p:cNvPr id="4" name="layer 0"/>
          <p:cNvSpPr/>
          <p:nvPr/>
        </p:nvSpPr>
        <p:spPr>
          <a:xfrm>
            <a:off x="457200" y="118872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DDF0E3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5" name="layer 0 text"/>
          <p:cNvSpPr txBox="1"/>
          <p:nvPr/>
        </p:nvSpPr>
        <p:spPr>
          <a:xfrm>
            <a:off x="457200" y="1188720"/>
            <a:ext cx="4480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PEECC: keygen · encrypt · decrypt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2697480" y="1691640"/>
            <a:ext cx="0" cy="13716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" name="layer 1"/>
          <p:cNvSpPr/>
          <p:nvPr/>
        </p:nvSpPr>
        <p:spPr>
          <a:xfrm>
            <a:off x="457200" y="182880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8" name="layer 1 text"/>
          <p:cNvSpPr txBox="1"/>
          <p:nvPr/>
        </p:nvSpPr>
        <p:spPr>
          <a:xfrm>
            <a:off x="457200" y="1828800"/>
            <a:ext cx="4480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Koblitz encoding · pentatope S · Euler K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2697480" y="2331720"/>
            <a:ext cx="0" cy="13716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0" name="layer 2"/>
          <p:cNvSpPr/>
          <p:nvPr/>
        </p:nvSpPr>
        <p:spPr>
          <a:xfrm>
            <a:off x="457200" y="24688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11" name="layer 2 text"/>
          <p:cNvSpPr txBox="1"/>
          <p:nvPr/>
        </p:nvSpPr>
        <p:spPr>
          <a:xfrm>
            <a:off x="457200" y="2468880"/>
            <a:ext cx="4480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group: add · double · negate · double-and-add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2697480" y="2971800"/>
            <a:ext cx="0" cy="13716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layer 3"/>
          <p:cNvSpPr/>
          <p:nvPr/>
        </p:nvSpPr>
        <p:spPr>
          <a:xfrm>
            <a:off x="457200" y="31089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14" name="layer 3 text"/>
          <p:cNvSpPr txBox="1"/>
          <p:nvPr/>
        </p:nvSpPr>
        <p:spPr>
          <a:xfrm>
            <a:off x="457200" y="3108960"/>
            <a:ext cx="4480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F_p: add · sub · mul · inverse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2697480" y="3611880"/>
            <a:ext cx="0" cy="13716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layer 4"/>
          <p:cNvSpPr/>
          <p:nvPr/>
        </p:nvSpPr>
        <p:spPr>
          <a:xfrm>
            <a:off x="457200" y="374904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EEF1F4"/>
          </a:solidFill>
          <a:ln w="15875">
            <a:solidFill>
              <a:srgbClr val="9AA5B1"/>
            </a:solidFill>
            <a:prstDash val="solid"/>
          </a:ln>
        </p:spPr>
      </p:sp>
      <p:sp>
        <p:nvSpPr>
          <p:cNvPr id="17" name="layer 4 text"/>
          <p:cNvSpPr txBox="1"/>
          <p:nvPr/>
        </p:nvSpPr>
        <p:spPr>
          <a:xfrm>
            <a:off x="45720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big integers · OS random source</a:t>
            </a:r>
            <a:endParaRPr lang="en-US" sz="1300" dirty="0"/>
          </a:p>
        </p:txBody>
      </p:sp>
      <p:sp>
        <p:nvSpPr>
          <p:cNvPr id="18" name="stat"/>
          <p:cNvSpPr txBox="1"/>
          <p:nvPr/>
        </p:nvSpPr>
        <p:spPr>
          <a:xfrm>
            <a:off x="5394960" y="1143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2800" dirty="0"/>
          </a:p>
        </p:txBody>
      </p:sp>
      <p:sp>
        <p:nvSpPr>
          <p:cNvPr id="19" name="stat label"/>
          <p:cNvSpPr txBox="1"/>
          <p:nvPr/>
        </p:nvSpPr>
        <p:spPr>
          <a:xfrm>
            <a:off x="5394960" y="1664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self-tests pass (curve, keys, S and K values, 1000 round trips)</a:t>
            </a:r>
            <a:endParaRPr lang="en-US" sz="1200" dirty="0"/>
          </a:p>
        </p:txBody>
      </p:sp>
      <p:sp>
        <p:nvSpPr>
          <p:cNvPr id="20" name="stat"/>
          <p:cNvSpPr txBox="1"/>
          <p:nvPr/>
        </p:nvSpPr>
        <p:spPr>
          <a:xfrm>
            <a:off x="539496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secp256r1</a:t>
            </a:r>
            <a:endParaRPr lang="en-US" sz="2800" dirty="0"/>
          </a:p>
        </p:txBody>
      </p:sp>
      <p:sp>
        <p:nvSpPr>
          <p:cNvPr id="21" name="stat label"/>
          <p:cNvSpPr txBox="1"/>
          <p:nvPr/>
        </p:nvSpPr>
        <p:spPr>
          <a:xfrm>
            <a:off x="5394960" y="2807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6.3.0, 283 lines of C, no compiler warnings</a:t>
            </a:r>
            <a:endParaRPr lang="en-US" sz="1200" dirty="0"/>
          </a:p>
        </p:txBody>
      </p:sp>
      <p:sp>
        <p:nvSpPr>
          <p:cNvPr id="22" name="bullets"/>
          <p:cNvSpPr txBox="1"/>
          <p:nvPr/>
        </p:nvSpPr>
        <p:spPr>
          <a:xfrm>
            <a:off x="539496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matches the published curve value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Python re-computation agrees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“hello world”</a:t>
            </a:r>
            <a:endParaRPr lang="en-US" sz="2800" dirty="0"/>
          </a:p>
        </p:txBody>
      </p:sp>
      <p:sp>
        <p:nvSpPr>
          <p:cNvPr id="4" name="step 0"/>
          <p:cNvSpPr/>
          <p:nvPr/>
        </p:nvSpPr>
        <p:spPr>
          <a:xfrm>
            <a:off x="365760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5" name="step title"/>
          <p:cNvSpPr txBox="1"/>
          <p:nvPr/>
        </p:nvSpPr>
        <p:spPr>
          <a:xfrm>
            <a:off x="429768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6" name="step body"/>
          <p:cNvSpPr txBox="1"/>
          <p:nvPr/>
        </p:nvSpPr>
        <p:spPr>
          <a:xfrm>
            <a:off x="429768" y="169164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bytes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65 6c 6c 6f 20 77 6f 72 6c 64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1874520" y="2286000"/>
            <a:ext cx="210312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8" name="step 1"/>
          <p:cNvSpPr/>
          <p:nvPr/>
        </p:nvSpPr>
        <p:spPr>
          <a:xfrm>
            <a:off x="2084832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DCE9F7"/>
          </a:solidFill>
          <a:ln w="15875">
            <a:solidFill>
              <a:srgbClr val="2F6FB0"/>
            </a:solidFill>
            <a:prstDash val="solid"/>
          </a:ln>
        </p:spPr>
      </p:sp>
      <p:sp>
        <p:nvSpPr>
          <p:cNvPr id="9" name="step title"/>
          <p:cNvSpPr txBox="1"/>
          <p:nvPr/>
        </p:nvSpPr>
        <p:spPr>
          <a:xfrm>
            <a:off x="2148840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Koblitz point P_m</a:t>
            </a:r>
            <a:endParaRPr lang="en-US" sz="1300" dirty="0"/>
          </a:p>
        </p:txBody>
      </p:sp>
      <p:sp>
        <p:nvSpPr>
          <p:cNvPr id="10" name="step body"/>
          <p:cNvSpPr txBox="1"/>
          <p:nvPr/>
        </p:nvSpPr>
        <p:spPr>
          <a:xfrm>
            <a:off x="2148840" y="169164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0x168656c6c…6c6401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(message bytes are visible inside x)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3593592" y="2286000"/>
            <a:ext cx="210312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step 2"/>
          <p:cNvSpPr/>
          <p:nvPr/>
        </p:nvSpPr>
        <p:spPr>
          <a:xfrm>
            <a:off x="3803904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DDF0E3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3" name="step title"/>
          <p:cNvSpPr txBox="1"/>
          <p:nvPr/>
        </p:nvSpPr>
        <p:spPr>
          <a:xfrm>
            <a:off x="3867912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</a:t>
            </a:r>
            <a:endParaRPr lang="en-US" sz="1300" dirty="0"/>
          </a:p>
        </p:txBody>
      </p:sp>
      <p:sp>
        <p:nvSpPr>
          <p:cNvPr id="14" name="step body"/>
          <p:cNvSpPr txBox="1"/>
          <p:nvPr/>
        </p:nvSpPr>
        <p:spPr>
          <a:xfrm>
            <a:off x="3867912" y="169164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1015 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2029 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= K·B,  C2 = P_m + K·Pub</a:t>
            </a:r>
            <a:endParaRPr lang="en-US" sz="1100" dirty="0"/>
          </a:p>
        </p:txBody>
      </p:sp>
      <p:sp>
        <p:nvSpPr>
          <p:cNvPr id="15" name="arrow"/>
          <p:cNvSpPr/>
          <p:nvPr/>
        </p:nvSpPr>
        <p:spPr>
          <a:xfrm>
            <a:off x="5312664" y="2286000"/>
            <a:ext cx="210312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6" name="step 3"/>
          <p:cNvSpPr/>
          <p:nvPr/>
        </p:nvSpPr>
        <p:spPr>
          <a:xfrm>
            <a:off x="5522976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8DADA"/>
          </a:solidFill>
          <a:ln w="15875">
            <a:solidFill>
              <a:srgbClr val="B22222"/>
            </a:solidFill>
            <a:prstDash val="solid"/>
          </a:ln>
        </p:spPr>
      </p:sp>
      <p:sp>
        <p:nvSpPr>
          <p:cNvPr id="17" name="step title"/>
          <p:cNvSpPr txBox="1"/>
          <p:nvPr/>
        </p:nvSpPr>
        <p:spPr>
          <a:xfrm>
            <a:off x="5586984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18" name="step body"/>
          <p:cNvSpPr txBox="1"/>
          <p:nvPr/>
        </p:nvSpPr>
        <p:spPr>
          <a:xfrm>
            <a:off x="5586984" y="169164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C1.x = 681dc236…c19f4f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bit = 128 bytes</a:t>
            </a:r>
            <a:endParaRPr lang="en-US" sz="1100" dirty="0"/>
          </a:p>
        </p:txBody>
      </p:sp>
      <p:sp>
        <p:nvSpPr>
          <p:cNvPr id="19" name="arrow"/>
          <p:cNvSpPr/>
          <p:nvPr/>
        </p:nvSpPr>
        <p:spPr>
          <a:xfrm>
            <a:off x="7031736" y="2286000"/>
            <a:ext cx="210312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0" name="step 4"/>
          <p:cNvSpPr/>
          <p:nvPr/>
        </p:nvSpPr>
        <p:spPr>
          <a:xfrm>
            <a:off x="7242048" y="123444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FCE8D5"/>
          </a:solidFill>
          <a:ln w="15875">
            <a:solidFill>
              <a:srgbClr val="E67E22"/>
            </a:solidFill>
            <a:prstDash val="solid"/>
          </a:ln>
        </p:spPr>
      </p:sp>
      <p:sp>
        <p:nvSpPr>
          <p:cNvPr id="21" name="step title"/>
          <p:cNvSpPr txBox="1"/>
          <p:nvPr/>
        </p:nvSpPr>
        <p:spPr>
          <a:xfrm>
            <a:off x="7306056" y="1298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Decrypt</a:t>
            </a:r>
            <a:endParaRPr lang="en-US" sz="1300" dirty="0"/>
          </a:p>
        </p:txBody>
      </p:sp>
      <p:sp>
        <p:nvSpPr>
          <p:cNvPr id="22" name="step body"/>
          <p:cNvSpPr txBox="1"/>
          <p:nvPr/>
        </p:nvSpPr>
        <p:spPr>
          <a:xfrm>
            <a:off x="7306056" y="169164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P_m = C2 − d·C1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 world”  MATCH</a:t>
            </a:r>
            <a:endParaRPr lang="en-US" sz="1100" dirty="0"/>
          </a:p>
        </p:txBody>
      </p:sp>
      <p:sp>
        <p:nvSpPr>
          <p:cNvPr id="23" name="bullets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d (250 bit) and C2 change in every run; P_m, S, K and C1 do not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= 681dc236…c19f4f was identical in both recorded runs, with different keys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tool</a:t>
            </a:r>
            <a:endParaRPr lang="en-US" sz="2800" dirty="0"/>
          </a:p>
        </p:txBody>
      </p:sp>
      <p:pic>
        <p:nvPicPr>
          <p:cNvPr id="4" name="screenshot m8.png" descr="Screenshot of the PEECC simulation: m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43000"/>
            <a:ext cx="5120640" cy="320040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3566160" y="1143000"/>
            <a:ext cx="5120640" cy="3200400"/>
          </a:xfrm>
          <a:prstGeom prst="rect">
            <a:avLst/>
          </a:prstGeom>
          <a:ln w="12700">
            <a:solidFill>
              <a:srgbClr val="C9D2DA"/>
            </a:solidFill>
            <a:prstDash val="solid"/>
          </a:ln>
        </p:spPr>
      </p:sp>
      <p:sp>
        <p:nvSpPr>
          <p:cNvPr id="6" name="bullets"/>
          <p:cNvSpPr txBox="1"/>
          <p:nvPr/>
        </p:nvSpPr>
        <p:spPr>
          <a:xfrm>
            <a:off x="457200" y="12344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real 256-bit values, animated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curve: every point visible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walkthrough: each node, every number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and metrics: live measurements</a:t>
            </a:r>
            <a:endParaRPr lang="en-US" sz="1400" dirty="0"/>
          </a:p>
        </p:txBody>
      </p:sp>
      <p:sp>
        <p:nvSpPr>
          <p:cNvPr id="7" name="caption"/>
          <p:cNvSpPr txBox="1"/>
          <p:nvPr/>
        </p:nvSpPr>
        <p:spPr>
          <a:xfrm>
            <a:off x="356616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</a:rPr>
              <a:t>Screenshot: decryption step of the math walkthrough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the key K is public</a:t>
            </a:r>
            <a:endParaRPr lang="en-US" sz="2800" dirty="0"/>
          </a:p>
        </p:txBody>
      </p:sp>
      <p:pic>
        <p:nvPicPr>
          <p:cNvPr id="4" name="screenshot p11.png" descr="Screenshot of the PEECC simulation: p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143000"/>
            <a:ext cx="5120640" cy="320040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3566160" y="1143000"/>
            <a:ext cx="5120640" cy="3200400"/>
          </a:xfrm>
          <a:prstGeom prst="rect">
            <a:avLst/>
          </a:prstGeom>
          <a:ln w="12700">
            <a:solidFill>
              <a:srgbClr val="C9D2DA"/>
            </a:solidFill>
            <a:prstDash val="solid"/>
          </a:ln>
        </p:spPr>
      </p:sp>
      <p:sp>
        <p:nvSpPr>
          <p:cNvPr id="6" name="bullets"/>
          <p:cNvSpPr txBox="1"/>
          <p:nvPr/>
        </p:nvSpPr>
        <p:spPr>
          <a:xfrm>
            <a:off x="457200" y="123444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is derived only from the public generator B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observer computes P_m = C2 − K · Pub without the private key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= K · B is the same for every message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deterministic</a:t>
            </a:r>
            <a:endParaRPr lang="en-US" sz="1400" dirty="0"/>
          </a:p>
        </p:txBody>
      </p:sp>
      <p:sp>
        <p:nvSpPr>
          <p:cNvPr id="7" name="caption"/>
          <p:cNvSpPr txBox="1"/>
          <p:nvPr/>
        </p:nvSpPr>
        <p:spPr>
          <a:xfrm>
            <a:off x="356616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</a:rPr>
              <a:t>Screenshot: Eve recovers “hello world” without 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Improvement: one-time random r</a:t>
            </a:r>
            <a:endParaRPr lang="en-US" sz="2800" dirty="0"/>
          </a:p>
        </p:txBody>
      </p:sp>
      <p:sp>
        <p:nvSpPr>
          <p:cNvPr id="4" name="head paper"/>
          <p:cNvSpPr/>
          <p:nvPr/>
        </p:nvSpPr>
        <p:spPr>
          <a:xfrm>
            <a:off x="457200" y="11887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8DADA"/>
          </a:solidFill>
          <a:ln w="15875">
            <a:solidFill>
              <a:srgbClr val="B22222"/>
            </a:solidFill>
            <a:prstDash val="solid"/>
          </a:ln>
        </p:spPr>
      </p:sp>
      <p:sp>
        <p:nvSpPr>
          <p:cNvPr id="5" name="head paper text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[18]</a:t>
            </a:r>
            <a:endParaRPr lang="en-US" sz="1400" dirty="0"/>
          </a:p>
        </p:txBody>
      </p:sp>
      <p:sp>
        <p:nvSpPr>
          <p:cNvPr id="6" name="head improved"/>
          <p:cNvSpPr/>
          <p:nvPr/>
        </p:nvSpPr>
        <p:spPr>
          <a:xfrm>
            <a:off x="4754880" y="11887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DDF0E3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7" name="head improved text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(deviation from [18])</a:t>
            </a:r>
            <a:endParaRPr lang="en-US" sz="1400" dirty="0"/>
          </a:p>
        </p:txBody>
      </p:sp>
      <p:sp>
        <p:nvSpPr>
          <p:cNvPr id="8" name="left 0"/>
          <p:cNvSpPr/>
          <p:nvPr/>
        </p:nvSpPr>
        <p:spPr>
          <a:xfrm>
            <a:off x="457200" y="178308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9" name="left 0 text"/>
          <p:cNvSpPr txBox="1"/>
          <p:nvPr/>
        </p:nvSpPr>
        <p:spPr>
          <a:xfrm>
            <a:off x="45720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K = S² + S + 41</a:t>
            </a:r>
            <a:endParaRPr lang="en-US" sz="1300" dirty="0"/>
          </a:p>
        </p:txBody>
      </p:sp>
      <p:sp>
        <p:nvSpPr>
          <p:cNvPr id="10" name="left 1"/>
          <p:cNvSpPr/>
          <p:nvPr/>
        </p:nvSpPr>
        <p:spPr>
          <a:xfrm>
            <a:off x="457200" y="2350008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11" name="left 1 text"/>
          <p:cNvSpPr txBox="1"/>
          <p:nvPr/>
        </p:nvSpPr>
        <p:spPr>
          <a:xfrm>
            <a:off x="457200" y="2350008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public B</a:t>
            </a:r>
            <a:endParaRPr lang="en-US" sz="1300" dirty="0"/>
          </a:p>
        </p:txBody>
      </p:sp>
      <p:sp>
        <p:nvSpPr>
          <p:cNvPr id="12" name="left 2"/>
          <p:cNvSpPr/>
          <p:nvPr/>
        </p:nvSpPr>
        <p:spPr>
          <a:xfrm>
            <a:off x="457200" y="2916936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13" name="left 2 text"/>
          <p:cNvSpPr txBox="1"/>
          <p:nvPr/>
        </p:nvSpPr>
        <p:spPr>
          <a:xfrm>
            <a:off x="457200" y="2916936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constant, ciphertext repeatable</a:t>
            </a:r>
            <a:endParaRPr lang="en-US" sz="1300" dirty="0"/>
          </a:p>
        </p:txBody>
      </p:sp>
      <p:sp>
        <p:nvSpPr>
          <p:cNvPr id="14" name="left 3"/>
          <p:cNvSpPr/>
          <p:nvPr/>
        </p:nvSpPr>
        <p:spPr>
          <a:xfrm>
            <a:off x="457200" y="3483864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15" name="left 3 text"/>
          <p:cNvSpPr txBox="1"/>
          <p:nvPr/>
        </p:nvSpPr>
        <p:spPr>
          <a:xfrm>
            <a:off x="457200" y="3483864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Eve: C2 − K·Pub = P_m</a:t>
            </a:r>
            <a:endParaRPr lang="en-US" sz="1300" dirty="0"/>
          </a:p>
        </p:txBody>
      </p:sp>
      <p:sp>
        <p:nvSpPr>
          <p:cNvPr id="16" name="right 0"/>
          <p:cNvSpPr/>
          <p:nvPr/>
        </p:nvSpPr>
        <p:spPr>
          <a:xfrm>
            <a:off x="4754880" y="178308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17" name="right 0 text"/>
          <p:cNvSpPr txBox="1"/>
          <p:nvPr/>
        </p:nvSpPr>
        <p:spPr>
          <a:xfrm>
            <a:off x="475488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r, random in [1, N−1]</a:t>
            </a:r>
            <a:endParaRPr lang="en-US" sz="1300" dirty="0"/>
          </a:p>
        </p:txBody>
      </p:sp>
      <p:sp>
        <p:nvSpPr>
          <p:cNvPr id="18" name="right 1"/>
          <p:cNvSpPr/>
          <p:nvPr/>
        </p:nvSpPr>
        <p:spPr>
          <a:xfrm>
            <a:off x="4754880" y="2350008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19" name="right 1 text"/>
          <p:cNvSpPr txBox="1"/>
          <p:nvPr/>
        </p:nvSpPr>
        <p:spPr>
          <a:xfrm>
            <a:off x="4754880" y="2350008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secret for every message</a:t>
            </a:r>
            <a:endParaRPr lang="en-US" sz="1300" dirty="0"/>
          </a:p>
        </p:txBody>
      </p:sp>
      <p:sp>
        <p:nvSpPr>
          <p:cNvPr id="20" name="right 2"/>
          <p:cNvSpPr/>
          <p:nvPr/>
        </p:nvSpPr>
        <p:spPr>
          <a:xfrm>
            <a:off x="4754880" y="2916936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21" name="right 2 text"/>
          <p:cNvSpPr txBox="1"/>
          <p:nvPr/>
        </p:nvSpPr>
        <p:spPr>
          <a:xfrm>
            <a:off x="4754880" y="2916936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and C2 differ every time</a:t>
            </a:r>
            <a:endParaRPr lang="en-US" sz="1300" dirty="0"/>
          </a:p>
        </p:txBody>
      </p:sp>
      <p:sp>
        <p:nvSpPr>
          <p:cNvPr id="22" name="right 3"/>
          <p:cNvSpPr/>
          <p:nvPr/>
        </p:nvSpPr>
        <p:spPr>
          <a:xfrm>
            <a:off x="4754880" y="3483864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2DA"/>
            </a:solidFill>
            <a:prstDash val="solid"/>
          </a:ln>
        </p:spPr>
      </p:sp>
      <p:sp>
        <p:nvSpPr>
          <p:cNvPr id="23" name="right 3 text"/>
          <p:cNvSpPr txBox="1"/>
          <p:nvPr/>
        </p:nvSpPr>
        <p:spPr>
          <a:xfrm>
            <a:off x="4754880" y="3483864"/>
            <a:ext cx="39319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Eve: C2 − K·Pub ≠ P_m</a:t>
            </a:r>
            <a:endParaRPr lang="en-US" sz="1300" dirty="0"/>
          </a:p>
        </p:txBody>
      </p:sp>
      <p:sp>
        <p:nvSpPr>
          <p:cNvPr id="24" name="arrow"/>
          <p:cNvSpPr/>
          <p:nvPr/>
        </p:nvSpPr>
        <p:spPr>
          <a:xfrm>
            <a:off x="4389120" y="2011680"/>
            <a:ext cx="36576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5" name="bullets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Decryption is unchanged: d·C1 = d·r·B = r·Pub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added: check that C1, C2 lie on the curve before 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base paper vs improved</a:t>
            </a:r>
            <a:endParaRPr lang="en-US" sz="2800" dirty="0"/>
          </a:p>
        </p:txBody>
      </p:sp>
      <p:pic>
        <p:nvPicPr>
          <p:cNvPr id="4" name="screenshot imp.png" descr="Screenshot of the PEECC simulation: i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212080" cy="325755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143000"/>
            <a:ext cx="5212080" cy="3257550"/>
          </a:xfrm>
          <a:prstGeom prst="rect">
            <a:avLst/>
          </a:prstGeom>
          <a:ln w="12700">
            <a:solidFill>
              <a:srgbClr val="C9D2DA"/>
            </a:solidFill>
            <a:prstDash val="solid"/>
          </a:ln>
        </p:spPr>
      </p:sp>
      <p:sp>
        <p:nvSpPr>
          <p:cNvPr id="6" name="stat"/>
          <p:cNvSpPr txBox="1"/>
          <p:nvPr/>
        </p:nvSpPr>
        <p:spPr>
          <a:xfrm>
            <a:off x="59893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B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→ 0%</a:t>
            </a:r>
            <a:endParaRPr lang="en-US" sz="2800" dirty="0"/>
          </a:p>
        </p:txBody>
      </p:sp>
      <p:sp>
        <p:nvSpPr>
          <p:cNvPr id="7" name="stat label"/>
          <p:cNvSpPr txBox="1"/>
          <p:nvPr/>
        </p:nvSpPr>
        <p:spPr>
          <a:xfrm>
            <a:off x="598932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eavesdropper recovers the message (5/5 → 0/5)</a:t>
            </a:r>
            <a:endParaRPr lang="en-US" sz="1200" dirty="0"/>
          </a:p>
        </p:txBody>
      </p:sp>
      <p:sp>
        <p:nvSpPr>
          <p:cNvPr id="8" name="stat"/>
          <p:cNvSpPr txBox="1"/>
          <p:nvPr/>
        </p:nvSpPr>
        <p:spPr>
          <a:xfrm>
            <a:off x="598932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5</a:t>
            </a:r>
            <a:endParaRPr lang="en-US" sz="2800" dirty="0"/>
          </a:p>
        </p:txBody>
      </p:sp>
      <p:sp>
        <p:nvSpPr>
          <p:cNvPr id="9" name="stat label"/>
          <p:cNvSpPr txBox="1"/>
          <p:nvPr/>
        </p:nvSpPr>
        <p:spPr>
          <a:xfrm>
            <a:off x="5989320" y="2624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C1 values in 5 messages</a:t>
            </a:r>
            <a:endParaRPr lang="en-US" sz="1200" dirty="0"/>
          </a:p>
        </p:txBody>
      </p:sp>
      <p:sp>
        <p:nvSpPr>
          <p:cNvPr id="10" name="stat"/>
          <p:cNvSpPr txBox="1"/>
          <p:nvPr/>
        </p:nvSpPr>
        <p:spPr>
          <a:xfrm>
            <a:off x="598932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8× fewer</a:t>
            </a:r>
            <a:endParaRPr lang="en-US" sz="2800" dirty="0"/>
          </a:p>
        </p:txBody>
      </p:sp>
      <p:sp>
        <p:nvSpPr>
          <p:cNvPr id="11" name="stat label"/>
          <p:cNvSpPr txBox="1"/>
          <p:nvPr/>
        </p:nvSpPr>
        <p:spPr>
          <a:xfrm>
            <a:off x="5989320" y="3630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operations per multiplication: ~3067 → ~384 (2029-bit K vs 256-bit r)</a:t>
            </a:r>
            <a:endParaRPr lang="en-US" sz="1200" dirty="0"/>
          </a:p>
        </p:txBody>
      </p:sp>
      <p:sp>
        <p:nvSpPr>
          <p:cNvPr id="12" name="c note"/>
          <p:cNvSpPr txBox="1"/>
          <p:nvPr/>
        </p:nvSpPr>
        <p:spPr>
          <a:xfrm>
            <a:off x="5989320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C implementation: encryption 14.6 ms measured; ≈ 1.7 ms expected with a 256-bit multiplier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and conclusion</a:t>
            </a:r>
            <a:endParaRPr lang="en-US" sz="2800" dirty="0"/>
          </a:p>
        </p:txBody>
      </p:sp>
      <p:pic>
        <p:nvPicPr>
          <p:cNvPr id="4" name="screenshot met.png" descr="Screenshot of the PEECC simulation: m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846320" cy="3028950"/>
          </a:xfrm>
          <a:prstGeom prst="rect">
            <a:avLst/>
          </a:prstGeom>
        </p:spPr>
      </p:pic>
      <p:sp>
        <p:nvSpPr>
          <p:cNvPr id="5" name="frame"/>
          <p:cNvSpPr/>
          <p:nvPr/>
        </p:nvSpPr>
        <p:spPr>
          <a:xfrm>
            <a:off x="457200" y="1143000"/>
            <a:ext cx="4846320" cy="3028950"/>
          </a:xfrm>
          <a:prstGeom prst="rect">
            <a:avLst/>
          </a:prstGeom>
          <a:ln w="12700">
            <a:solidFill>
              <a:srgbClr val="C9D2DA"/>
            </a:solidFill>
            <a:prstDash val="solid"/>
          </a:ln>
        </p:spPr>
      </p:sp>
      <p:sp>
        <p:nvSpPr>
          <p:cNvPr id="6" name="bullets"/>
          <p:cNvSpPr txBox="1"/>
          <p:nvPr/>
        </p:nvSpPr>
        <p:spPr>
          <a:xfrm>
            <a:off x="5577840" y="11887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PEECC implemented and verified: 13/13 tests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Paper-exact scheme is not confidential: K is public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 restores confidentiality and cuts encryption work about 8×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and ciphertext sizes (256 / 512 / 1024 bit) and decryption cost unchanged</a:t>
            </a:r>
            <a:endParaRPr lang="en-US" sz="1300" dirty="0"/>
          </a:p>
        </p:txBody>
      </p:sp>
      <p:sp>
        <p:nvSpPr>
          <p:cNvPr id="7" name="limits"/>
          <p:cNvSpPr txBox="1"/>
          <p:nvPr/>
        </p:nvSpPr>
        <p:spPr>
          <a:xfrm>
            <a:off x="557784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2222"/>
                </a:solidFill>
              </a:rPr>
              <a:t>Not addressed: integrity tag, constant-time code, 29-byte block limit, protocol layer.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ECC Formal">
  <a:themeElements>
    <a:clrScheme name="PEECC Formal">
      <a:dk1>
        <a:srgbClr val="1B2733"/>
      </a:dk1>
      <a:lt1>
        <a:srgbClr val="FFFFFF"/>
      </a:lt1>
      <a:dk2>
        <a:srgbClr val="12263F"/>
      </a:dk2>
      <a:lt2>
        <a:srgbClr val="EEF1F4"/>
      </a:lt2>
      <a:accent1>
        <a:srgbClr val="2F6FB0"/>
      </a:accent1>
      <a:accent2>
        <a:srgbClr val="2E8B57"/>
      </a:accent2>
      <a:accent3>
        <a:srgbClr val="E67E22"/>
      </a:accent3>
      <a:accent4>
        <a:srgbClr val="B22222"/>
      </a:accent4>
      <a:accent5>
        <a:srgbClr val="5B6770"/>
      </a:accent5>
      <a:accent6>
        <a:srgbClr val="DCE9F7"/>
      </a:accent6>
      <a:hlink>
        <a:srgbClr val="2F6FB0"/>
      </a:hlink>
      <a:folHlink>
        <a:srgbClr val="5B6770"/>
      </a:folHlink>
    </a:clrScheme>
    <a:fontScheme name="PEECC For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PEECC: Implementation, Visualisation and Improvement</dc:title>
  <dc:subject>PptxGenJS Presentation</dc:subject>
  <dc:creator>Prasun Baranwal</dc:creator>
  <cp:lastModifiedBy>Prasun Baranwal</cp:lastModifiedBy>
  <cp:revision>1</cp:revision>
  <dcterms:created xsi:type="dcterms:W3CDTF">2026-10-25T05:32:27Z</dcterms:created>
  <dcterms:modified xsi:type="dcterms:W3CDTF">2026-10-25T05:32:27Z</dcterms:modified>
</cp:coreProperties>
</file>